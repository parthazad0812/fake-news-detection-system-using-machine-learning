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Kanit" panose="020B0604020202020204" charset="-34"/>
      <p:regular r:id="rId13"/>
    </p:embeddedFont>
    <p:embeddedFont>
      <p:font typeface="Martel Sans L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89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8" y="179427"/>
            <a:ext cx="5247084" cy="7870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4124" y="3065621"/>
            <a:ext cx="713089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Fake News Detection 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24124" y="412861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Parth Azad | Data Engineering &amp; AI/ML Project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4780836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PySpark • LSTM • FAISS • Gemini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2" y="165378"/>
            <a:ext cx="5265896" cy="78988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8758" y="610553"/>
            <a:ext cx="7599283" cy="129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Challenge: Fighting Information Warfare</a:t>
            </a:r>
            <a:endParaRPr lang="en-US" sz="4050" dirty="0"/>
          </a:p>
        </p:txBody>
      </p:sp>
      <p:sp>
        <p:nvSpPr>
          <p:cNvPr id="5" name="Shape 2"/>
          <p:cNvSpPr/>
          <p:nvPr/>
        </p:nvSpPr>
        <p:spPr>
          <a:xfrm>
            <a:off x="6258758" y="2213729"/>
            <a:ext cx="3697962" cy="2770465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381" y="2434352"/>
            <a:ext cx="661987" cy="66198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1428" y="2616279"/>
            <a:ext cx="297894" cy="2978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79381" y="3299698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Exponential Growth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6479381" y="3746302"/>
            <a:ext cx="3256717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Fake news spreads 10x faster than legitimate information on social platforms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10160079" y="2213729"/>
            <a:ext cx="3697962" cy="2770465"/>
          </a:xfrm>
          <a:prstGeom prst="roundRect">
            <a:avLst>
              <a:gd name="adj" fmla="val 1195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0702" y="2434352"/>
            <a:ext cx="661987" cy="661988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2749" y="2616279"/>
            <a:ext cx="297894" cy="29789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380702" y="3299698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Verification Crisis</a:t>
            </a: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10380702" y="3746302"/>
            <a:ext cx="3256717" cy="1017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Manual fact-checking cannot scale with volume of content generated daily</a:t>
            </a:r>
            <a:endParaRPr lang="en-US" sz="1700" dirty="0"/>
          </a:p>
        </p:txBody>
      </p:sp>
      <p:sp>
        <p:nvSpPr>
          <p:cNvPr id="15" name="Shape 8"/>
          <p:cNvSpPr/>
          <p:nvPr/>
        </p:nvSpPr>
        <p:spPr>
          <a:xfrm>
            <a:off x="6258758" y="5187553"/>
            <a:ext cx="7599283" cy="2431375"/>
          </a:xfrm>
          <a:prstGeom prst="roundRect">
            <a:avLst>
              <a:gd name="adj" fmla="val 1361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9381" y="5408176"/>
            <a:ext cx="661987" cy="661988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1428" y="5590103"/>
            <a:ext cx="297894" cy="29789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479381" y="6273522"/>
            <a:ext cx="259615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Explainability Gap</a:t>
            </a:r>
            <a:endParaRPr lang="en-US" sz="2000" dirty="0"/>
          </a:p>
        </p:txBody>
      </p:sp>
      <p:sp>
        <p:nvSpPr>
          <p:cNvPr id="19" name="Text 10"/>
          <p:cNvSpPr/>
          <p:nvPr/>
        </p:nvSpPr>
        <p:spPr>
          <a:xfrm>
            <a:off x="6479381" y="6720126"/>
            <a:ext cx="7158038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Traditional ML models operate as black boxes without transparent reasoning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212" y="524470"/>
            <a:ext cx="7495937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Our Solution: AI-Powered Verification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21212" y="3148489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End-to-End Pipeline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21212" y="3580924"/>
            <a:ext cx="7889200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 integrated system combining machine learning, data engineering, and generative AI to deliver accurate, explainable predictions with validation.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1212" y="4281011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Capabilities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21212" y="4713446"/>
            <a:ext cx="7889200" cy="125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Binary classification (Fake/Real)</a:t>
            </a:r>
            <a:endParaRPr lang="en-US" sz="15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Confidence scoring</a:t>
            </a:r>
            <a:endParaRPr lang="en-US" sz="15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Natural language explanations</a:t>
            </a:r>
            <a:endParaRPr lang="en-US" sz="15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Source validation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328" y="1484471"/>
            <a:ext cx="4033242" cy="6049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68" y="591979"/>
            <a:ext cx="4576286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System Architecture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924" y="1480066"/>
            <a:ext cx="11268551" cy="61575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66887" y="4375706"/>
            <a:ext cx="2611000" cy="33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User Input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760108" y="4335643"/>
            <a:ext cx="2611001" cy="33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LSTM Classification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539281" y="4348669"/>
            <a:ext cx="2611001" cy="33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FAISS Retrieval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68" y="587573"/>
            <a:ext cx="8344495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Engineering: Medallion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99768" y="1475661"/>
            <a:ext cx="2105025" cy="1765816"/>
          </a:xfrm>
          <a:prstGeom prst="roundRect">
            <a:avLst>
              <a:gd name="adj" fmla="val 1652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5478" y="2221825"/>
            <a:ext cx="273487" cy="2734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9222" y="1670090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Bronze Layer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99222" y="2050852"/>
            <a:ext cx="5098137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Raw data ingestion from multiple sources using PySpark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299222" y="2427684"/>
            <a:ext cx="5098137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JSON/CSV collection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Initial storage in Parquet format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1948" y="3231952"/>
            <a:ext cx="10331529" cy="11430"/>
          </a:xfrm>
          <a:prstGeom prst="roundRect">
            <a:avLst>
              <a:gd name="adj" fmla="val 255246"/>
            </a:avLst>
          </a:prstGeom>
          <a:solidFill>
            <a:srgbClr val="4844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99768" y="3338632"/>
            <a:ext cx="4210169" cy="2103120"/>
          </a:xfrm>
          <a:prstGeom prst="roundRect">
            <a:avLst>
              <a:gd name="adj" fmla="val 1387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8109" y="4253389"/>
            <a:ext cx="273487" cy="2734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04366" y="3533061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Silver Layer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404366" y="3913823"/>
            <a:ext cx="2946083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Data cleaning and preprocessing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04366" y="4290655"/>
            <a:ext cx="2946083" cy="95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Null value handling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Regex pattern cleaning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Text normalization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307092" y="5432227"/>
            <a:ext cx="8226385" cy="11430"/>
          </a:xfrm>
          <a:prstGeom prst="roundRect">
            <a:avLst>
              <a:gd name="adj" fmla="val 255246"/>
            </a:avLst>
          </a:prstGeom>
          <a:solidFill>
            <a:srgbClr val="4844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99768" y="5538907"/>
            <a:ext cx="6315432" cy="2103120"/>
          </a:xfrm>
          <a:prstGeom prst="roundRect">
            <a:avLst>
              <a:gd name="adj" fmla="val 1387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0741" y="6453664"/>
            <a:ext cx="273487" cy="2734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09629" y="5733336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Gold Layer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7509629" y="6114098"/>
            <a:ext cx="2450783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Feature engineering for ML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509629" y="6490930"/>
            <a:ext cx="2450783" cy="95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2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Lemmatization</a:t>
            </a:r>
            <a:endParaRPr lang="en-US" sz="1500" dirty="0"/>
          </a:p>
          <a:p>
            <a:pPr marL="285750" indent="-285750" algn="l">
              <a:lnSpc>
                <a:spcPts val="22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Vector embeddings</a:t>
            </a:r>
          </a:p>
          <a:p>
            <a:pPr marL="285750" indent="-285750" algn="l">
              <a:lnSpc>
                <a:spcPts val="22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cs typeface="Martel Sans Light" pitchFamily="34" charset="-120"/>
              </a:rPr>
              <a:t>Business Logic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455" y="624840"/>
            <a:ext cx="10259735" cy="65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Machine Learning Model: LSTM Architecture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85455" y="1965365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LSTM?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85455" y="2505789"/>
            <a:ext cx="4214932" cy="20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Long Short-Term Memory networks excel at capturing sequential context and dependencies in text, making them ideal for understanding narrative patterns that distinguish fake from real news.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5455" y="4802862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Model Pipeline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85455" y="5343287"/>
            <a:ext cx="4214932" cy="203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Text tokenization</a:t>
            </a:r>
            <a:endParaRPr lang="en-US" sz="1750" dirty="0"/>
          </a:p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Sequence padding</a:t>
            </a:r>
            <a:endParaRPr lang="en-US" sz="1750" dirty="0"/>
          </a:p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GloVe embedding lookup</a:t>
            </a:r>
            <a:endParaRPr lang="en-US" sz="1750" dirty="0"/>
          </a:p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BiLSTM processing</a:t>
            </a:r>
            <a:endParaRPr lang="en-US" sz="1750" dirty="0"/>
          </a:p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Output probability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456" y="1836896"/>
            <a:ext cx="8296989" cy="55312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66" y="162639"/>
            <a:ext cx="5269468" cy="7904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5662" y="610910"/>
            <a:ext cx="7625477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RAG Pipeline: Context-Aware Retrieval</a:t>
            </a:r>
            <a:endParaRPr lang="en-US" sz="4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662" y="2181582"/>
            <a:ext cx="1084659" cy="15323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26893" y="2398514"/>
            <a:ext cx="255210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Text Encoding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526893" y="2835473"/>
            <a:ext cx="6344245" cy="661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Convert articles to vector embeddings using transformer models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662" y="3713917"/>
            <a:ext cx="1084659" cy="13015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26893" y="3930848"/>
            <a:ext cx="255210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FAISS Indexing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526893" y="4367808"/>
            <a:ext cx="634424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Store vectors in optimized similarity search structure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662" y="5015508"/>
            <a:ext cx="1084659" cy="13015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26893" y="5232440"/>
            <a:ext cx="255210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Top-K Retrieval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7526893" y="5669399"/>
            <a:ext cx="634424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Find most similar articles for context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662" y="6317099"/>
            <a:ext cx="1084659" cy="13015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526893" y="6534031"/>
            <a:ext cx="255210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7526893" y="6970990"/>
            <a:ext cx="634424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Compare predictions with retrieved sources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455" y="624840"/>
            <a:ext cx="8009215" cy="659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Gemini Integration: Explainable AI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55" y="1836896"/>
            <a:ext cx="8296989" cy="55312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7514" y="2523768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Prompt Engineering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637514" y="3064193"/>
            <a:ext cx="4214932" cy="1391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Custom-tuned prompts guide Gemini to analyze LSTM predictions alongside retrieved context, generating comprehensive explanations.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7514" y="4665702"/>
            <a:ext cx="264021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Output Generation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37514" y="5206127"/>
            <a:ext cx="4214932" cy="1611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Plain-English reasoning</a:t>
            </a:r>
            <a:endParaRPr lang="en-US" sz="17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Source consistency analysis</a:t>
            </a:r>
            <a:endParaRPr lang="en-US" sz="17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Confidence justification</a:t>
            </a:r>
            <a:endParaRPr lang="en-US" sz="17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Error flagging when uncertain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060" y="148590"/>
            <a:ext cx="5288280" cy="79324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3777" y="579358"/>
            <a:ext cx="4707136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Results &amp; Performance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3777" y="1507688"/>
            <a:ext cx="3775591" cy="65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92%</a:t>
            </a:r>
            <a:endParaRPr lang="en-US" sz="5150" dirty="0"/>
          </a:p>
        </p:txBody>
      </p:sp>
      <p:sp>
        <p:nvSpPr>
          <p:cNvPr id="6" name="Text 3"/>
          <p:cNvSpPr/>
          <p:nvPr/>
        </p:nvSpPr>
        <p:spPr>
          <a:xfrm>
            <a:off x="1415415" y="2383988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Model Accuracy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3777" y="2773918"/>
            <a:ext cx="377559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Achieved 90-94% accuracy across multiple train-test splits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674513" y="1507688"/>
            <a:ext cx="3775710" cy="65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15%</a:t>
            </a:r>
            <a:endParaRPr lang="en-US" sz="5150" dirty="0"/>
          </a:p>
        </p:txBody>
      </p:sp>
      <p:sp>
        <p:nvSpPr>
          <p:cNvPr id="9" name="Text 6"/>
          <p:cNvSpPr/>
          <p:nvPr/>
        </p:nvSpPr>
        <p:spPr>
          <a:xfrm>
            <a:off x="5290661" y="2383988"/>
            <a:ext cx="2543413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False Positive Reduction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674513" y="2773918"/>
            <a:ext cx="3775710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RAG integration reduced false positives vs. standalone LSTM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2684145" y="3781068"/>
            <a:ext cx="3775591" cy="65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87%</a:t>
            </a:r>
            <a:endParaRPr lang="en-US" sz="5150" dirty="0"/>
          </a:p>
        </p:txBody>
      </p:sp>
      <p:sp>
        <p:nvSpPr>
          <p:cNvPr id="12" name="Text 9"/>
          <p:cNvSpPr/>
          <p:nvPr/>
        </p:nvSpPr>
        <p:spPr>
          <a:xfrm>
            <a:off x="3405783" y="4657368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Average Confidence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684145" y="5047298"/>
            <a:ext cx="3775591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 confidence scores for validated predictions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93777" y="5873353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Example Output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91076" y="6595705"/>
            <a:ext cx="7459147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Prediction: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Fake | </a:t>
            </a:r>
            <a:r>
              <a:rPr lang="en-US" sz="15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Confidence: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0.87 | </a:t>
            </a:r>
            <a:r>
              <a:rPr lang="en-US" sz="15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Explanation: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Inconsistencies detected with 87% of retrieved sources citing contradictory facts about timeline and participants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93777" y="6411039"/>
            <a:ext cx="22860" cy="1239083"/>
          </a:xfrm>
          <a:prstGeom prst="rect">
            <a:avLst/>
          </a:prstGeom>
          <a:solidFill>
            <a:srgbClr val="FD505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848" y="173712"/>
            <a:ext cx="5254704" cy="7882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1649" y="724972"/>
            <a:ext cx="5456396" cy="68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Future Roadmap</a:t>
            </a:r>
            <a:endParaRPr lang="en-US" sz="4250" dirty="0"/>
          </a:p>
        </p:txBody>
      </p:sp>
      <p:sp>
        <p:nvSpPr>
          <p:cNvPr id="5" name="Shape 2"/>
          <p:cNvSpPr/>
          <p:nvPr/>
        </p:nvSpPr>
        <p:spPr>
          <a:xfrm>
            <a:off x="1072515" y="1743908"/>
            <a:ext cx="30480" cy="5760601"/>
          </a:xfrm>
          <a:prstGeom prst="roundRect">
            <a:avLst>
              <a:gd name="adj" fmla="val 114124"/>
            </a:avLst>
          </a:prstGeom>
          <a:solidFill>
            <a:srgbClr val="4844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02901" y="1989534"/>
            <a:ext cx="695682" cy="30480"/>
          </a:xfrm>
          <a:prstGeom prst="roundRect">
            <a:avLst>
              <a:gd name="adj" fmla="val 114124"/>
            </a:avLst>
          </a:prstGeom>
          <a:solidFill>
            <a:srgbClr val="4844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11649" y="1743908"/>
            <a:ext cx="521732" cy="521732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8864" y="1800165"/>
            <a:ext cx="327303" cy="409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2231946" y="1823561"/>
            <a:ext cx="2910245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Production Deployment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231946" y="2299216"/>
            <a:ext cx="6100405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Deploy on Databricks for enterprise-scale processing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302901" y="3359348"/>
            <a:ext cx="695682" cy="30480"/>
          </a:xfrm>
          <a:prstGeom prst="roundRect">
            <a:avLst>
              <a:gd name="adj" fmla="val 114124"/>
            </a:avLst>
          </a:prstGeom>
          <a:solidFill>
            <a:srgbClr val="4844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11649" y="3113722"/>
            <a:ext cx="521732" cy="521732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08864" y="3169980"/>
            <a:ext cx="327303" cy="409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2231946" y="3193375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Real-Time API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2231946" y="3669030"/>
            <a:ext cx="6100405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Build REST interface for live article verification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02901" y="4729163"/>
            <a:ext cx="695682" cy="30480"/>
          </a:xfrm>
          <a:prstGeom prst="roundRect">
            <a:avLst>
              <a:gd name="adj" fmla="val 114124"/>
            </a:avLst>
          </a:prstGeom>
          <a:solidFill>
            <a:srgbClr val="4844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1649" y="4483537"/>
            <a:ext cx="521732" cy="521732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08864" y="4539794"/>
            <a:ext cx="327303" cy="409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2231946" y="4563189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BERT Integration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2231946" y="5038844"/>
            <a:ext cx="6100405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Replace LSTM with transformer-based models for better performance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02901" y="6464260"/>
            <a:ext cx="695682" cy="30480"/>
          </a:xfrm>
          <a:prstGeom prst="roundRect">
            <a:avLst>
              <a:gd name="adj" fmla="val 114124"/>
            </a:avLst>
          </a:prstGeom>
          <a:solidFill>
            <a:srgbClr val="4844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1649" y="6218634"/>
            <a:ext cx="521732" cy="521732"/>
          </a:xfrm>
          <a:prstGeom prst="roundRect">
            <a:avLst>
              <a:gd name="adj" fmla="val 6667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08864" y="6274891"/>
            <a:ext cx="327303" cy="409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2550" dirty="0"/>
          </a:p>
        </p:txBody>
      </p:sp>
      <p:sp>
        <p:nvSpPr>
          <p:cNvPr id="24" name="Text 21"/>
          <p:cNvSpPr/>
          <p:nvPr/>
        </p:nvSpPr>
        <p:spPr>
          <a:xfrm>
            <a:off x="2231946" y="6298287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Advanced RAG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2231946" y="6773942"/>
            <a:ext cx="6100405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Upgrade to Pinecone or Weaviate for better vector search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410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Martel Sans Light</vt:lpstr>
      <vt:lpstr>Arial</vt:lpstr>
      <vt:lpstr>Kanit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Parth  Azad</cp:lastModifiedBy>
  <cp:revision>2</cp:revision>
  <dcterms:created xsi:type="dcterms:W3CDTF">2026-04-14T05:24:14Z</dcterms:created>
  <dcterms:modified xsi:type="dcterms:W3CDTF">2026-04-14T05:31:39Z</dcterms:modified>
</cp:coreProperties>
</file>